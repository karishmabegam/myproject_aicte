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146847057" r:id="rId10"/>
    <p:sldId id="2146847060" r:id="rId11"/>
    <p:sldId id="2146847063" r:id="rId12"/>
    <p:sldId id="2146847062" r:id="rId13"/>
    <p:sldId id="2146847061" r:id="rId14"/>
    <p:sldId id="2146847055"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24-02-2025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2/24/2025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2/24/2025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2/24/2025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2/24/2025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2/24/2025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2/24/2025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2/24/2025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2/24/2025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2/24/2025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2/24/2025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2/24/2025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2/24/2025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7277" y="1595098"/>
            <a:ext cx="12726648" cy="977778"/>
          </a:xfrm>
        </p:spPr>
        <p:txBody>
          <a:bodyPr>
            <a:normAutofit fontScale="90000"/>
          </a:bodyPr>
          <a:lstStyle/>
          <a:p>
            <a:pPr algn="ctr"/>
            <a:r>
              <a:rPr lang="en-US" b="1" dirty="0">
                <a:solidFill>
                  <a:schemeClr val="accent1"/>
                </a:solidFill>
                <a:latin typeface="Arial" panose="020B0604020202020204" pitchFamily="34" charset="0"/>
                <a:cs typeface="Arial" panose="020B0604020202020204" pitchFamily="34" charset="0"/>
              </a:rPr>
              <a:t>SECURE DATA HIDING IN IMAGE USING STEGANOGRAPHY</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1641987" y="3907939"/>
            <a:ext cx="9455725"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r>
              <a:rPr lang="en-US" sz="2000" b="1" dirty="0">
                <a:solidFill>
                  <a:schemeClr val="accent1">
                    <a:lumMod val="75000"/>
                  </a:schemeClr>
                </a:solidFill>
                <a:latin typeface="Arial"/>
                <a:cs typeface="Arial"/>
              </a:rPr>
              <a:t>Student Name : Shaik Karishma Begam</a:t>
            </a:r>
          </a:p>
          <a:p>
            <a:r>
              <a:rPr lang="en-US" sz="2000" b="1" dirty="0">
                <a:solidFill>
                  <a:schemeClr val="accent1">
                    <a:lumMod val="75000"/>
                  </a:schemeClr>
                </a:solidFill>
                <a:latin typeface="Arial"/>
                <a:cs typeface="Arial"/>
              </a:rPr>
              <a:t>College Name &amp; Department : Godavari Institute Of Engineering And Technology &amp; Master Of Computer Applications(MCA)</a:t>
            </a:r>
          </a:p>
          <a:p>
            <a:endParaRPr lang="en-US" sz="2000" b="1" dirty="0">
              <a:solidFill>
                <a:schemeClr val="accent1">
                  <a:lumMod val="75000"/>
                </a:schemeClr>
              </a:solidFill>
              <a:latin typeface="Arial"/>
              <a:cs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Technology used</a:t>
            </a:r>
            <a:endParaRPr lang="en-US" dirty="0">
              <a:latin typeface="Arial"/>
              <a:cs typeface="Arial"/>
            </a:endParaRPr>
          </a:p>
          <a:p>
            <a:pPr marL="305435" indent="-305435"/>
            <a:r>
              <a:rPr lang="en-US" sz="2000" b="1" dirty="0">
                <a:latin typeface="Arial"/>
                <a:ea typeface="+mn-lt"/>
                <a:cs typeface="+mn-lt"/>
              </a:rPr>
              <a:t>Wow factor </a:t>
            </a:r>
            <a:endParaRPr lang="en-US" sz="2000" dirty="0">
              <a:latin typeface="Arial"/>
              <a:ea typeface="+mn-lt"/>
              <a:cs typeface="+mn-lt"/>
            </a:endParaRPr>
          </a:p>
          <a:p>
            <a:pPr marL="305435" indent="-305435"/>
            <a:r>
              <a:rPr lang="en-US" sz="2000" b="1" dirty="0">
                <a:latin typeface="Arial"/>
                <a:ea typeface="+mn-lt"/>
                <a:cs typeface="+mn-lt"/>
              </a:rPr>
              <a:t>End users</a:t>
            </a:r>
          </a:p>
          <a:p>
            <a:pPr marL="305435" indent="-305435"/>
            <a:r>
              <a:rPr lang="en-US" sz="2000" b="1" dirty="0">
                <a:latin typeface="Arial"/>
                <a:ea typeface="+mn-lt"/>
                <a:cs typeface="+mn-lt"/>
              </a:rPr>
              <a:t>Result</a:t>
            </a:r>
          </a:p>
          <a:p>
            <a:pPr marL="305435" indent="-305435"/>
            <a:r>
              <a:rPr lang="en-US" sz="2000" b="1" dirty="0">
                <a:latin typeface="Arial"/>
                <a:ea typeface="+mn-lt"/>
                <a:cs typeface="+mn-lt"/>
              </a:rPr>
              <a:t>Conclusion</a:t>
            </a:r>
          </a:p>
          <a:p>
            <a:pPr marL="305435" indent="-305435"/>
            <a:r>
              <a:rPr lang="en-US" sz="2000" b="1" dirty="0">
                <a:latin typeface="Arial"/>
                <a:ea typeface="+mn-lt"/>
                <a:cs typeface="+mn-lt"/>
              </a:rPr>
              <a:t>Git-hub Link</a:t>
            </a:r>
          </a:p>
          <a:p>
            <a:pPr marL="305435" indent="-305435"/>
            <a:r>
              <a:rPr lang="en-US" sz="2000" b="1" dirty="0">
                <a:latin typeface="Arial"/>
                <a:ea typeface="+mn-lt"/>
                <a:cs typeface="+mn-lt"/>
              </a:rPr>
              <a:t>Future scope</a:t>
            </a:r>
          </a:p>
          <a:p>
            <a:pPr marL="0" indent="0">
              <a:buNone/>
            </a:pPr>
            <a:endParaRPr lang="en-US" sz="2000" b="1" dirty="0">
              <a:latin typeface="Arial"/>
              <a:ea typeface="+mn-lt"/>
              <a:cs typeface="+mn-lt"/>
            </a:endParaRPr>
          </a:p>
          <a:p>
            <a:pPr marL="305435" indent="-305435"/>
            <a:endParaRPr lang="en-US" sz="2000" b="1" dirty="0">
              <a:latin typeface="Arial"/>
              <a:ea typeface="+mn-lt"/>
              <a:cs typeface="+mn-lt"/>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3" name="Rectangle 1">
            <a:extLst>
              <a:ext uri="{FF2B5EF4-FFF2-40B4-BE49-F238E27FC236}">
                <a16:creationId xmlns:a16="http://schemas.microsoft.com/office/drawing/2014/main" id="{831AC9D8-18E3-558E-69A4-6B5E069B346F}"/>
              </a:ext>
            </a:extLst>
          </p:cNvPr>
          <p:cNvSpPr>
            <a:spLocks noGrp="1" noChangeArrowheads="1"/>
          </p:cNvSpPr>
          <p:nvPr>
            <p:ph idx="1"/>
          </p:nvPr>
        </p:nvSpPr>
        <p:spPr bwMode="auto">
          <a:xfrm>
            <a:off x="894736" y="1827622"/>
            <a:ext cx="10583074" cy="3365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Data security is essential in the digital world, where sensitive information is constantly at risk.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Traditional encryption methods, while effective, can be easily detected, potentially alerting attackers and raising suspicion. Steganography offers a more discreet approach by embedding secret data within images, making it invisible to unintended users while maintaining the image’s original appearance. This project focuses on implementing secure image-based data hiding techniques, ensuring confidentiality and preventing unauthorized access. By leveraging steganography, we enhance data security without drawing attention, making it an effective method for covert communication.</a:t>
            </a: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Technology  used</a:t>
            </a:r>
            <a:endParaRPr lang="en-US" sz="4400" dirty="0"/>
          </a:p>
        </p:txBody>
      </p:sp>
      <p:sp>
        <p:nvSpPr>
          <p:cNvPr id="11" name="Rectangle 2">
            <a:extLst>
              <a:ext uri="{FF2B5EF4-FFF2-40B4-BE49-F238E27FC236}">
                <a16:creationId xmlns:a16="http://schemas.microsoft.com/office/drawing/2014/main" id="{7CC26D82-5611-1FED-620D-F3820EA714C7}"/>
              </a:ext>
            </a:extLst>
          </p:cNvPr>
          <p:cNvSpPr>
            <a:spLocks noGrp="1" noChangeArrowheads="1"/>
          </p:cNvSpPr>
          <p:nvPr>
            <p:ph idx="1"/>
          </p:nvPr>
        </p:nvSpPr>
        <p:spPr bwMode="auto">
          <a:xfrm>
            <a:off x="761999" y="1562275"/>
            <a:ext cx="10353368" cy="4362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Arial" panose="020B0604020202020204" pitchFamily="34" charset="0"/>
              </a:rPr>
              <a:t>Programming Language:</a:t>
            </a:r>
            <a:r>
              <a:rPr kumimoji="0" lang="en-US" altLang="en-US" sz="1800" b="0" i="0" u="none" strike="noStrike" cap="none" normalizeH="0" baseline="0" dirty="0">
                <a:ln>
                  <a:noFill/>
                </a:ln>
                <a:solidFill>
                  <a:schemeClr val="tx1"/>
                </a:solidFill>
                <a:effectLst/>
                <a:latin typeface="Arial" panose="020B0604020202020204" pitchFamily="34" charset="0"/>
              </a:rPr>
              <a:t> Python</a:t>
            </a:r>
          </a:p>
          <a:p>
            <a:pPr algn="just" defTabSz="914400" eaLnBrk="0" fontAlgn="base" hangingPunct="0">
              <a:lnSpc>
                <a:spcPct val="150000"/>
              </a:lnSpc>
              <a:spcBef>
                <a:spcPct val="0"/>
              </a:spcBef>
              <a:spcAft>
                <a:spcPct val="0"/>
              </a:spcAft>
              <a:buClrTx/>
              <a:buSzTx/>
              <a:buFont typeface="Wingdings" panose="05000000000000000000" pitchFamily="2" charset="2"/>
              <a:buChar char="Ø"/>
            </a:pPr>
            <a:r>
              <a:rPr lang="en-US" altLang="en-US" sz="1800" b="1" dirty="0">
                <a:solidFill>
                  <a:schemeClr val="tx1"/>
                </a:solidFill>
                <a:latin typeface="Arial" panose="020B0604020202020204" pitchFamily="34" charset="0"/>
                <a:cs typeface="Arial" panose="020B0604020202020204" pitchFamily="34" charset="0"/>
              </a:rPr>
              <a:t>IDE: </a:t>
            </a:r>
            <a:r>
              <a:rPr lang="en-US" altLang="en-US" sz="1800" dirty="0">
                <a:solidFill>
                  <a:schemeClr val="tx1"/>
                </a:solidFill>
                <a:latin typeface="Arial" panose="020B0604020202020204" pitchFamily="34" charset="0"/>
                <a:cs typeface="Arial" panose="020B0604020202020204" pitchFamily="34" charset="0"/>
              </a:rPr>
              <a:t>Python IDLE</a:t>
            </a: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algn="just" defTabSz="914400"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Arial" panose="020B0604020202020204" pitchFamily="34" charset="0"/>
              </a:rPr>
              <a:t>Libraries Used:</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OpenCV (cv2)</a:t>
            </a:r>
            <a:r>
              <a:rPr kumimoji="0" lang="en-US" altLang="en-US" b="0" i="0" u="none" strike="noStrike" cap="none" normalizeH="0" baseline="0" dirty="0">
                <a:ln>
                  <a:noFill/>
                </a:ln>
                <a:solidFill>
                  <a:schemeClr val="tx1"/>
                </a:solidFill>
                <a:effectLst/>
                <a:latin typeface="Arial" panose="020B0604020202020204" pitchFamily="34" charset="0"/>
              </a:rPr>
              <a:t>: OpenCV is a powerful library for image processing that handles reading, writing, and manipulating images, crucial for embedding and extracting secret messages in image files.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OS (</a:t>
            </a:r>
            <a:r>
              <a:rPr kumimoji="0" lang="en-US" altLang="en-US" sz="1800" b="1" i="0" u="none" strike="noStrike" cap="none" normalizeH="0" baseline="0" dirty="0" err="1">
                <a:ln>
                  <a:noFill/>
                </a:ln>
                <a:solidFill>
                  <a:schemeClr val="tx1"/>
                </a:solidFill>
                <a:effectLst/>
                <a:latin typeface="Arial" panose="020B0604020202020204" pitchFamily="34" charset="0"/>
              </a:rPr>
              <a:t>os</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The </a:t>
            </a:r>
            <a:r>
              <a:rPr kumimoji="0" lang="en-US" altLang="en-US" sz="1800" b="0" i="0" u="none" strike="noStrike" cap="none" normalizeH="0" baseline="0" dirty="0" err="1">
                <a:ln>
                  <a:noFill/>
                </a:ln>
                <a:solidFill>
                  <a:schemeClr val="tx1"/>
                </a:solidFill>
                <a:effectLst/>
                <a:latin typeface="Arial" panose="020B0604020202020204" pitchFamily="34" charset="0"/>
              </a:rPr>
              <a:t>os</a:t>
            </a:r>
            <a:r>
              <a:rPr kumimoji="0" lang="en-US" altLang="en-US" sz="1800" b="0" i="0" u="none" strike="noStrike" cap="none" normalizeH="0" baseline="0" dirty="0">
                <a:ln>
                  <a:noFill/>
                </a:ln>
                <a:solidFill>
                  <a:schemeClr val="tx1"/>
                </a:solidFill>
                <a:effectLst/>
                <a:latin typeface="Arial" panose="020B0604020202020204" pitchFamily="34" charset="0"/>
              </a:rPr>
              <a:t> module interacts with the operating system, enabling file management and executing system-level commands, like opening the encrypted image in the default viewer.</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String (string)</a:t>
            </a:r>
            <a:r>
              <a:rPr kumimoji="0" lang="en-US" altLang="en-US" sz="1800" b="0" i="0" u="none" strike="noStrike" cap="none" normalizeH="0" baseline="0" dirty="0">
                <a:ln>
                  <a:noFill/>
                </a:ln>
                <a:solidFill>
                  <a:schemeClr val="tx1"/>
                </a:solidFill>
                <a:effectLst/>
                <a:latin typeface="Arial" panose="020B0604020202020204" pitchFamily="34" charset="0"/>
              </a:rPr>
              <a:t>: The string module provides string constants and functions for text manipulation but is unnecessary in this code and can be removed for optimization.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1" y="771730"/>
            <a:ext cx="11029616" cy="530296"/>
          </a:xfrm>
        </p:spPr>
        <p:txBody>
          <a:bodyPr>
            <a:noAutofit/>
          </a:bodyPr>
          <a:lstStyle/>
          <a:p>
            <a:r>
              <a:rPr lang="en-US" sz="4000" b="1" dirty="0">
                <a:solidFill>
                  <a:schemeClr val="accent1"/>
                </a:solidFill>
                <a:latin typeface="Arial"/>
                <a:ea typeface="+mj-lt"/>
                <a:cs typeface="Arial"/>
              </a:rPr>
              <a:t>Wow factors</a:t>
            </a:r>
            <a:endParaRPr lang="en-US" sz="4000" dirty="0">
              <a:solidFill>
                <a:schemeClr val="accent1"/>
              </a:solidFill>
              <a:latin typeface="Calibri Light"/>
              <a:cs typeface="Calibri Light"/>
            </a:endParaRPr>
          </a:p>
        </p:txBody>
      </p:sp>
      <p:sp>
        <p:nvSpPr>
          <p:cNvPr id="3" name="Rectangle 1">
            <a:extLst>
              <a:ext uri="{FF2B5EF4-FFF2-40B4-BE49-F238E27FC236}">
                <a16:creationId xmlns:a16="http://schemas.microsoft.com/office/drawing/2014/main" id="{6AA967C7-A8D8-454C-1F8C-6A3C2992E1B0}"/>
              </a:ext>
            </a:extLst>
          </p:cNvPr>
          <p:cNvSpPr>
            <a:spLocks noChangeArrowheads="1"/>
          </p:cNvSpPr>
          <p:nvPr/>
        </p:nvSpPr>
        <p:spPr bwMode="auto">
          <a:xfrm>
            <a:off x="728675" y="1330990"/>
            <a:ext cx="11029616"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Ensures high security for sensitive data</a:t>
            </a:r>
            <a:r>
              <a:rPr kumimoji="0" lang="en-US" altLang="en-US" sz="1800" b="0" i="0" u="none" strike="noStrike" cap="none" normalizeH="0" baseline="0" dirty="0">
                <a:ln>
                  <a:noFill/>
                </a:ln>
                <a:solidFill>
                  <a:schemeClr val="tx1"/>
                </a:solidFill>
                <a:effectLst/>
                <a:latin typeface="Arial" panose="020B0604020202020204" pitchFamily="34" charset="0"/>
              </a:rPr>
              <a:t>: By embedding secret messages within image pixels, the data remains securely hidden from unauthorized access.</a:t>
            </a:r>
          </a:p>
          <a:p>
            <a:pPr marL="0" marR="0" lvl="0" indent="0" algn="just" defTabSz="914400" rtl="0" eaLnBrk="0" fontAlgn="base" latinLnBrk="0" hangingPunct="0">
              <a:lnSpc>
                <a:spcPct val="15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Hidden message remains undetectable to the human eye</a:t>
            </a:r>
            <a:r>
              <a:rPr kumimoji="0" lang="en-US" altLang="en-US" sz="1800" b="0" i="0" u="none" strike="noStrike" cap="none" normalizeH="0" baseline="0" dirty="0">
                <a:ln>
                  <a:noFill/>
                </a:ln>
                <a:solidFill>
                  <a:schemeClr val="tx1"/>
                </a:solidFill>
                <a:effectLst/>
                <a:latin typeface="Arial" panose="020B0604020202020204" pitchFamily="34" charset="0"/>
              </a:rPr>
              <a:t>: The steganographic process alters only the least significant bits of image pixels, which are imperceptible to the human eye.</a:t>
            </a:r>
          </a:p>
          <a:p>
            <a:pPr marL="0" marR="0" lvl="0" indent="0" algn="just" defTabSz="914400" rtl="0" eaLnBrk="0" fontAlgn="base" latinLnBrk="0" hangingPunct="0">
              <a:lnSpc>
                <a:spcPct val="15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Arial" panose="020B0604020202020204" pitchFamily="34" charset="0"/>
              </a:rPr>
              <a:t>Lightweight and does not alter the visual quality of images</a:t>
            </a:r>
            <a:r>
              <a:rPr kumimoji="0" lang="en-US" altLang="en-US" sz="1800" b="0" i="0" u="none" strike="noStrike" cap="none" normalizeH="0" baseline="0" dirty="0">
                <a:ln>
                  <a:noFill/>
                </a:ln>
                <a:solidFill>
                  <a:schemeClr val="tx1"/>
                </a:solidFill>
                <a:effectLst/>
                <a:latin typeface="Arial" panose="020B0604020202020204" pitchFamily="34" charset="0"/>
              </a:rPr>
              <a:t>: The message embedding is done in a way that doesn't noticeably affect the image's appearance or size.</a:t>
            </a:r>
          </a:p>
          <a:p>
            <a:pPr marL="0" marR="0" lvl="0" indent="0" algn="just" defTabSz="914400" rtl="0" eaLnBrk="0" fontAlgn="base" latinLnBrk="0" hangingPunct="0">
              <a:lnSpc>
                <a:spcPct val="150000"/>
              </a:lnSpc>
              <a:spcBef>
                <a:spcPct val="0"/>
              </a:spcBef>
              <a:spcAft>
                <a:spcPct val="0"/>
              </a:spcAft>
              <a:buClrTx/>
              <a:buSzTx/>
              <a:buFontTx/>
              <a:buAutoNum type="arabicPeriod" startAt="4"/>
              <a:tabLst/>
            </a:pPr>
            <a:r>
              <a:rPr kumimoji="0" lang="en-US" altLang="en-US" sz="1800" b="1" i="0" u="none" strike="noStrike" cap="none" normalizeH="0" baseline="0" dirty="0">
                <a:ln>
                  <a:noFill/>
                </a:ln>
                <a:solidFill>
                  <a:schemeClr val="tx1"/>
                </a:solidFill>
                <a:effectLst/>
                <a:latin typeface="Arial" panose="020B0604020202020204" pitchFamily="34" charset="0"/>
              </a:rPr>
              <a:t>Can be extended for audio and video steganography</a:t>
            </a:r>
            <a:r>
              <a:rPr kumimoji="0" lang="en-US" altLang="en-US" sz="1800" b="0" i="0" u="none" strike="noStrike" cap="none" normalizeH="0" baseline="0" dirty="0">
                <a:ln>
                  <a:noFill/>
                </a:ln>
                <a:solidFill>
                  <a:schemeClr val="tx1"/>
                </a:solidFill>
                <a:effectLst/>
                <a:latin typeface="Arial" panose="020B0604020202020204" pitchFamily="34" charset="0"/>
              </a:rPr>
              <a:t>: The same principle of hiding data can be applied to audio and video files, making it versatile for various media types.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5986D-DBC5-8220-FE6F-7F2ABC7C4CEE}"/>
              </a:ext>
            </a:extLst>
          </p:cNvPr>
          <p:cNvSpPr>
            <a:spLocks noGrp="1"/>
          </p:cNvSpPr>
          <p:nvPr>
            <p:ph type="title"/>
          </p:nvPr>
        </p:nvSpPr>
        <p:spPr/>
        <p:txBody>
          <a:bodyPr>
            <a:noAutofit/>
          </a:bodyPr>
          <a:lstStyle/>
          <a:p>
            <a:r>
              <a:rPr lang="en-IN" sz="4000" b="1" dirty="0">
                <a:solidFill>
                  <a:schemeClr val="accent1"/>
                </a:solidFill>
                <a:latin typeface="Arial" panose="020B0604020202020204" pitchFamily="34" charset="0"/>
                <a:cs typeface="Arial" panose="020B0604020202020204" pitchFamily="34" charset="0"/>
              </a:rPr>
              <a:t>End users</a:t>
            </a:r>
          </a:p>
        </p:txBody>
      </p:sp>
      <p:sp>
        <p:nvSpPr>
          <p:cNvPr id="4" name="Rectangle 1">
            <a:extLst>
              <a:ext uri="{FF2B5EF4-FFF2-40B4-BE49-F238E27FC236}">
                <a16:creationId xmlns:a16="http://schemas.microsoft.com/office/drawing/2014/main" id="{8695207C-C7A2-13BE-F548-5E5E3B8A1349}"/>
              </a:ext>
            </a:extLst>
          </p:cNvPr>
          <p:cNvSpPr>
            <a:spLocks noGrp="1" noChangeArrowheads="1"/>
          </p:cNvSpPr>
          <p:nvPr>
            <p:ph idx="1"/>
          </p:nvPr>
        </p:nvSpPr>
        <p:spPr bwMode="auto">
          <a:xfrm>
            <a:off x="502535" y="1153405"/>
            <a:ext cx="10723204" cy="544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Government Agencies (For secure communication)</a:t>
            </a:r>
            <a:r>
              <a:rPr kumimoji="0" lang="en-US" altLang="en-US" sz="1800" b="0" i="0" u="none" strike="noStrike" cap="none" normalizeH="0" baseline="0" dirty="0">
                <a:ln>
                  <a:noFill/>
                </a:ln>
                <a:solidFill>
                  <a:schemeClr val="tx1"/>
                </a:solidFill>
                <a:effectLst/>
                <a:latin typeface="Arial" panose="020B0604020202020204" pitchFamily="34" charset="0"/>
              </a:rPr>
              <a:t>: Steganography helps government agencies securely communicate by concealing classified information within digital media, making it harder for adversaries to detect.</a:t>
            </a:r>
          </a:p>
          <a:p>
            <a:pPr marL="0" marR="0" lvl="0" indent="0" algn="just" defTabSz="914400" rtl="0" eaLnBrk="0" fontAlgn="base" latinLnBrk="0" hangingPunct="0">
              <a:lnSpc>
                <a:spcPct val="15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Cybersecurity Professionals</a:t>
            </a:r>
            <a:r>
              <a:rPr kumimoji="0" lang="en-US" altLang="en-US" sz="1800" b="0" i="0" u="none" strike="noStrike" cap="none" normalizeH="0" baseline="0" dirty="0">
                <a:ln>
                  <a:noFill/>
                </a:ln>
                <a:solidFill>
                  <a:schemeClr val="tx1"/>
                </a:solidFill>
                <a:effectLst/>
                <a:latin typeface="Arial" panose="020B0604020202020204" pitchFamily="34" charset="0"/>
              </a:rPr>
              <a:t>: Cybersecurity experts use steganography to protect sensitive data, ensuring that it is hidden from unauthorized access during transmission over insecure networks.</a:t>
            </a:r>
          </a:p>
          <a:p>
            <a:pPr marL="0" marR="0" lvl="0" indent="0" algn="just" defTabSz="914400" rtl="0" eaLnBrk="0" fontAlgn="base" latinLnBrk="0" hangingPunct="0">
              <a:lnSpc>
                <a:spcPct val="15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Arial" panose="020B0604020202020204" pitchFamily="34" charset="0"/>
              </a:rPr>
              <a:t>Individuals (For personal data protection)</a:t>
            </a:r>
            <a:r>
              <a:rPr kumimoji="0" lang="en-US" altLang="en-US" sz="1800" b="0" i="0" u="none" strike="noStrike" cap="none" normalizeH="0" baseline="0" dirty="0">
                <a:ln>
                  <a:noFill/>
                </a:ln>
                <a:solidFill>
                  <a:schemeClr val="tx1"/>
                </a:solidFill>
                <a:effectLst/>
                <a:latin typeface="Arial" panose="020B0604020202020204" pitchFamily="34" charset="0"/>
              </a:rPr>
              <a:t>: Individuals can use steganography to hide personal information, such as passwords or confidential messages, within harmless-looking files to safeguard their privacy.</a:t>
            </a:r>
          </a:p>
          <a:p>
            <a:pPr marL="0" marR="0" lvl="0" indent="0" algn="just" defTabSz="914400" rtl="0" eaLnBrk="0" fontAlgn="base" latinLnBrk="0" hangingPunct="0">
              <a:lnSpc>
                <a:spcPct val="150000"/>
              </a:lnSpc>
              <a:spcBef>
                <a:spcPct val="0"/>
              </a:spcBef>
              <a:spcAft>
                <a:spcPct val="0"/>
              </a:spcAft>
              <a:buClrTx/>
              <a:buSzTx/>
              <a:buFontTx/>
              <a:buAutoNum type="arabicPeriod" startAt="4"/>
              <a:tabLst/>
            </a:pPr>
            <a:r>
              <a:rPr kumimoji="0" lang="en-US" altLang="en-US" sz="1800" b="1" i="0" u="none" strike="noStrike" cap="none" normalizeH="0" baseline="0" dirty="0">
                <a:ln>
                  <a:noFill/>
                </a:ln>
                <a:solidFill>
                  <a:schemeClr val="tx1"/>
                </a:solidFill>
                <a:effectLst/>
                <a:latin typeface="Arial" panose="020B0604020202020204" pitchFamily="34" charset="0"/>
              </a:rPr>
              <a:t>Journalists &amp; Whistleblowers (To protect sensitive sources)</a:t>
            </a:r>
            <a:r>
              <a:rPr kumimoji="0" lang="en-US" altLang="en-US" sz="1800" b="0" i="0" u="none" strike="noStrike" cap="none" normalizeH="0" baseline="0" dirty="0">
                <a:ln>
                  <a:noFill/>
                </a:ln>
                <a:solidFill>
                  <a:schemeClr val="tx1"/>
                </a:solidFill>
                <a:effectLst/>
                <a:latin typeface="Arial" panose="020B0604020202020204" pitchFamily="34" charset="0"/>
              </a:rPr>
              <a:t>: Journalists and whistleblowers rely on steganography to securely share sensitive information, protecting the identities of their sources from surveillance and threats.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19043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8070C-FF0D-BBE3-3D8A-C3794CCCE8A2}"/>
              </a:ext>
            </a:extLst>
          </p:cNvPr>
          <p:cNvSpPr>
            <a:spLocks noGrp="1"/>
          </p:cNvSpPr>
          <p:nvPr>
            <p:ph type="title"/>
          </p:nvPr>
        </p:nvSpPr>
        <p:spPr/>
        <p:txBody>
          <a:bodyPr>
            <a:noAutofit/>
          </a:bodyPr>
          <a:lstStyle/>
          <a:p>
            <a:r>
              <a:rPr lang="en-IN" sz="4000" b="1" dirty="0">
                <a:solidFill>
                  <a:schemeClr val="accent1"/>
                </a:solidFill>
                <a:latin typeface="Arial" panose="020B0604020202020204" pitchFamily="34" charset="0"/>
                <a:cs typeface="Arial" panose="020B0604020202020204" pitchFamily="34" charset="0"/>
              </a:rPr>
              <a:t>Results</a:t>
            </a:r>
          </a:p>
        </p:txBody>
      </p:sp>
      <p:pic>
        <p:nvPicPr>
          <p:cNvPr id="5" name="Content Placeholder 4">
            <a:extLst>
              <a:ext uri="{FF2B5EF4-FFF2-40B4-BE49-F238E27FC236}">
                <a16:creationId xmlns:a16="http://schemas.microsoft.com/office/drawing/2014/main" id="{45A446B9-F80A-C4B0-E1B7-7ECCC054CF4F}"/>
              </a:ext>
            </a:extLst>
          </p:cNvPr>
          <p:cNvPicPr>
            <a:picLocks noGrp="1" noChangeAspect="1"/>
          </p:cNvPicPr>
          <p:nvPr>
            <p:ph idx="1"/>
          </p:nvPr>
        </p:nvPicPr>
        <p:blipFill>
          <a:blip r:embed="rId2"/>
          <a:stretch>
            <a:fillRect/>
          </a:stretch>
        </p:blipFill>
        <p:spPr>
          <a:xfrm>
            <a:off x="3283973" y="1092721"/>
            <a:ext cx="5053781" cy="4335885"/>
          </a:xfrm>
        </p:spPr>
      </p:pic>
      <p:sp>
        <p:nvSpPr>
          <p:cNvPr id="10" name="TextBox 9">
            <a:extLst>
              <a:ext uri="{FF2B5EF4-FFF2-40B4-BE49-F238E27FC236}">
                <a16:creationId xmlns:a16="http://schemas.microsoft.com/office/drawing/2014/main" id="{A05B791C-8338-3E8D-6785-2A973B5020AB}"/>
              </a:ext>
            </a:extLst>
          </p:cNvPr>
          <p:cNvSpPr txBox="1"/>
          <p:nvPr/>
        </p:nvSpPr>
        <p:spPr>
          <a:xfrm>
            <a:off x="2094270" y="5564295"/>
            <a:ext cx="7580671"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Fig 1:Code of Secure Data Hiding In Image Using Steganography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3715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2608E2-ACEF-8B93-5814-7CDD185498E0}"/>
              </a:ext>
            </a:extLst>
          </p:cNvPr>
          <p:cNvPicPr>
            <a:picLocks noChangeAspect="1"/>
          </p:cNvPicPr>
          <p:nvPr/>
        </p:nvPicPr>
        <p:blipFill>
          <a:blip r:embed="rId2"/>
          <a:stretch>
            <a:fillRect/>
          </a:stretch>
        </p:blipFill>
        <p:spPr>
          <a:xfrm>
            <a:off x="1155289" y="1857525"/>
            <a:ext cx="3952568" cy="2470355"/>
          </a:xfrm>
          <a:prstGeom prst="rect">
            <a:avLst/>
          </a:prstGeom>
        </p:spPr>
      </p:pic>
      <p:sp>
        <p:nvSpPr>
          <p:cNvPr id="7" name="TextBox 6">
            <a:extLst>
              <a:ext uri="{FF2B5EF4-FFF2-40B4-BE49-F238E27FC236}">
                <a16:creationId xmlns:a16="http://schemas.microsoft.com/office/drawing/2014/main" id="{534EBC24-8D11-3D7D-10B0-E8291B838880}"/>
              </a:ext>
            </a:extLst>
          </p:cNvPr>
          <p:cNvSpPr txBox="1"/>
          <p:nvPr/>
        </p:nvSpPr>
        <p:spPr>
          <a:xfrm>
            <a:off x="570271" y="670741"/>
            <a:ext cx="6096000" cy="707886"/>
          </a:xfrm>
          <a:prstGeom prst="rect">
            <a:avLst/>
          </a:prstGeom>
          <a:noFill/>
        </p:spPr>
        <p:txBody>
          <a:bodyPr wrap="square">
            <a:spAutoFit/>
          </a:bodyPr>
          <a:lstStyle/>
          <a:p>
            <a:r>
              <a:rPr lang="en-IN" sz="4000" b="1" dirty="0">
                <a:solidFill>
                  <a:schemeClr val="accent1"/>
                </a:solidFill>
                <a:latin typeface="Arial" panose="020B0604020202020204" pitchFamily="34" charset="0"/>
                <a:cs typeface="Arial" panose="020B0604020202020204" pitchFamily="34" charset="0"/>
              </a:rPr>
              <a:t>RESULTS</a:t>
            </a:r>
            <a:endParaRPr lang="en-IN" sz="4000"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24196D5-EA30-3CEC-76BE-C7B218EDE064}"/>
              </a:ext>
            </a:extLst>
          </p:cNvPr>
          <p:cNvSpPr txBox="1"/>
          <p:nvPr/>
        </p:nvSpPr>
        <p:spPr>
          <a:xfrm>
            <a:off x="1052053" y="4468797"/>
            <a:ext cx="4906296" cy="369332"/>
          </a:xfrm>
          <a:prstGeom prst="rect">
            <a:avLst/>
          </a:prstGeom>
          <a:noFill/>
        </p:spPr>
        <p:txBody>
          <a:bodyPr wrap="square" rtlCol="0">
            <a:spAutoFit/>
          </a:bodyPr>
          <a:lstStyle/>
          <a:p>
            <a:r>
              <a:rPr lang="en-US" b="1" dirty="0"/>
              <a:t>Fig 2: Original Image Without Data Hiding</a:t>
            </a:r>
            <a:endParaRPr lang="en-IN" b="1" dirty="0"/>
          </a:p>
        </p:txBody>
      </p:sp>
      <p:pic>
        <p:nvPicPr>
          <p:cNvPr id="10" name="Picture 9">
            <a:extLst>
              <a:ext uri="{FF2B5EF4-FFF2-40B4-BE49-F238E27FC236}">
                <a16:creationId xmlns:a16="http://schemas.microsoft.com/office/drawing/2014/main" id="{2EB43974-8CE4-A7AC-58D1-C9A9A3C363E9}"/>
              </a:ext>
            </a:extLst>
          </p:cNvPr>
          <p:cNvPicPr>
            <a:picLocks noChangeAspect="1"/>
          </p:cNvPicPr>
          <p:nvPr/>
        </p:nvPicPr>
        <p:blipFill>
          <a:blip r:embed="rId3"/>
          <a:stretch>
            <a:fillRect/>
          </a:stretch>
        </p:blipFill>
        <p:spPr>
          <a:xfrm>
            <a:off x="6764594" y="1857525"/>
            <a:ext cx="3952568" cy="2470355"/>
          </a:xfrm>
          <a:prstGeom prst="rect">
            <a:avLst/>
          </a:prstGeom>
        </p:spPr>
      </p:pic>
      <p:sp>
        <p:nvSpPr>
          <p:cNvPr id="11" name="TextBox 10">
            <a:extLst>
              <a:ext uri="{FF2B5EF4-FFF2-40B4-BE49-F238E27FC236}">
                <a16:creationId xmlns:a16="http://schemas.microsoft.com/office/drawing/2014/main" id="{A4C392E1-F077-5E95-FDF9-D064375AE66B}"/>
              </a:ext>
            </a:extLst>
          </p:cNvPr>
          <p:cNvSpPr txBox="1"/>
          <p:nvPr/>
        </p:nvSpPr>
        <p:spPr>
          <a:xfrm>
            <a:off x="6666271" y="4468797"/>
            <a:ext cx="6479458" cy="646331"/>
          </a:xfrm>
          <a:prstGeom prst="rect">
            <a:avLst/>
          </a:prstGeom>
          <a:noFill/>
        </p:spPr>
        <p:txBody>
          <a:bodyPr wrap="square" rtlCol="0">
            <a:spAutoFit/>
          </a:bodyPr>
          <a:lstStyle/>
          <a:p>
            <a:r>
              <a:rPr lang="en-US" b="1" dirty="0"/>
              <a:t>Fig 3: Encrypted Image With Data Hiding</a:t>
            </a:r>
            <a:endParaRPr lang="en-IN" b="1" dirty="0"/>
          </a:p>
          <a:p>
            <a:endParaRPr lang="en-IN" dirty="0"/>
          </a:p>
        </p:txBody>
      </p:sp>
    </p:spTree>
    <p:extLst>
      <p:ext uri="{BB962C8B-B14F-4D97-AF65-F5344CB8AC3E}">
        <p14:creationId xmlns:p14="http://schemas.microsoft.com/office/powerpoint/2010/main" val="2279315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C6B3D-1072-C2D2-EBFE-E33CABE394D1}"/>
              </a:ext>
            </a:extLst>
          </p:cNvPr>
          <p:cNvSpPr>
            <a:spLocks noGrp="1"/>
          </p:cNvSpPr>
          <p:nvPr>
            <p:ph type="title"/>
          </p:nvPr>
        </p:nvSpPr>
        <p:spPr/>
        <p:txBody>
          <a:bodyPr>
            <a:noAutofit/>
          </a:bodyPr>
          <a:lstStyle/>
          <a:p>
            <a:r>
              <a:rPr lang="en-IN" sz="4000" b="1" dirty="0">
                <a:solidFill>
                  <a:schemeClr val="accent1"/>
                </a:solidFill>
                <a:latin typeface="Arial" panose="020B0604020202020204" pitchFamily="34" charset="0"/>
                <a:cs typeface="Arial" panose="020B0604020202020204" pitchFamily="34" charset="0"/>
              </a:rPr>
              <a:t>Conclusion</a:t>
            </a:r>
          </a:p>
        </p:txBody>
      </p:sp>
      <p:sp>
        <p:nvSpPr>
          <p:cNvPr id="4" name="Rectangle 1">
            <a:extLst>
              <a:ext uri="{FF2B5EF4-FFF2-40B4-BE49-F238E27FC236}">
                <a16:creationId xmlns:a16="http://schemas.microsoft.com/office/drawing/2014/main" id="{9A8166AB-DEA1-C3D8-118B-127A326DA98C}"/>
              </a:ext>
            </a:extLst>
          </p:cNvPr>
          <p:cNvSpPr>
            <a:spLocks noGrp="1" noChangeArrowheads="1"/>
          </p:cNvSpPr>
          <p:nvPr>
            <p:ph idx="1"/>
          </p:nvPr>
        </p:nvSpPr>
        <p:spPr bwMode="auto">
          <a:xfrm>
            <a:off x="876160" y="1753514"/>
            <a:ext cx="9728417"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In conclusion, steganography offers a discreet and effective method for enhancing data security by embedding secret information within images. Unlike traditional encryption, it keeps the data hidden without altering the image's appearance, preventing unauthorized detection. This technique ensures secure communication, protecting sensitive information from potential threats.</a:t>
            </a:r>
          </a:p>
        </p:txBody>
      </p:sp>
    </p:spTree>
    <p:extLst>
      <p:ext uri="{BB962C8B-B14F-4D97-AF65-F5344CB8AC3E}">
        <p14:creationId xmlns:p14="http://schemas.microsoft.com/office/powerpoint/2010/main" val="4233882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F08C-D61F-627D-C4E5-397E3E84FC45}"/>
              </a:ext>
            </a:extLst>
          </p:cNvPr>
          <p:cNvSpPr>
            <a:spLocks noGrp="1"/>
          </p:cNvSpPr>
          <p:nvPr>
            <p:ph type="title"/>
          </p:nvPr>
        </p:nvSpPr>
        <p:spPr/>
        <p:txBody>
          <a:bodyPr>
            <a:noAutofit/>
          </a:bodyPr>
          <a:lstStyle/>
          <a:p>
            <a:r>
              <a:rPr lang="en-IN" sz="4000" b="1" dirty="0">
                <a:solidFill>
                  <a:schemeClr val="accent1"/>
                </a:solidFill>
                <a:latin typeface="Arial" panose="020B0604020202020204" pitchFamily="34" charset="0"/>
                <a:cs typeface="Arial" panose="020B0604020202020204" pitchFamily="34" charset="0"/>
              </a:rPr>
              <a:t>GitHub Link</a:t>
            </a:r>
          </a:p>
        </p:txBody>
      </p:sp>
      <p:sp>
        <p:nvSpPr>
          <p:cNvPr id="3" name="Content Placeholder 2">
            <a:extLst>
              <a:ext uri="{FF2B5EF4-FFF2-40B4-BE49-F238E27FC236}">
                <a16:creationId xmlns:a16="http://schemas.microsoft.com/office/drawing/2014/main" id="{51A299DD-46FA-7866-41D8-C1BFCC2F69DD}"/>
              </a:ext>
            </a:extLst>
          </p:cNvPr>
          <p:cNvSpPr>
            <a:spLocks noGrp="1"/>
          </p:cNvSpPr>
          <p:nvPr>
            <p:ph idx="1"/>
          </p:nvPr>
        </p:nvSpPr>
        <p:spPr/>
        <p:txBody>
          <a:bodyPr/>
          <a:lstStyle/>
          <a:p>
            <a:pPr marL="0" indent="0">
              <a:buNone/>
            </a:pPr>
            <a:r>
              <a:rPr lang="en-IN" dirty="0"/>
              <a:t>          https://github.com/karishmabegam/myproject_aicte.git</a:t>
            </a:r>
          </a:p>
        </p:txBody>
      </p:sp>
    </p:spTree>
    <p:extLst>
      <p:ext uri="{BB962C8B-B14F-4D97-AF65-F5344CB8AC3E}">
        <p14:creationId xmlns:p14="http://schemas.microsoft.com/office/powerpoint/2010/main" val="2230664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dirty="0">
                <a:solidFill>
                  <a:schemeClr val="accent1"/>
                </a:solidFill>
                <a:latin typeface="Arial"/>
                <a:cs typeface="Arial"/>
              </a:rPr>
              <a:t>Future scope(optional)</a:t>
            </a:r>
          </a:p>
        </p:txBody>
      </p:sp>
      <p:sp>
        <p:nvSpPr>
          <p:cNvPr id="2" name="Content Placeholder 1">
            <a:extLst>
              <a:ext uri="{FF2B5EF4-FFF2-40B4-BE49-F238E27FC236}">
                <a16:creationId xmlns:a16="http://schemas.microsoft.com/office/drawing/2014/main" id="{4E3897D8-7467-43AC-193A-A630E9DE6E8A}"/>
              </a:ext>
            </a:extLst>
          </p:cNvPr>
          <p:cNvSpPr>
            <a:spLocks noGrp="1" noChangeArrowheads="1"/>
          </p:cNvSpPr>
          <p:nvPr>
            <p:ph idx="1"/>
          </p:nvPr>
        </p:nvSpPr>
        <p:spPr bwMode="auto">
          <a:xfrm>
            <a:off x="738508" y="1889895"/>
            <a:ext cx="10283453"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Future developments in steganography can extend to audio and video files, allowing for more versatile data hiding across various media formats. Integrating AI-based detection and security enhancements will improve the robustness and reliability of steganographic techniques, making it harder for attackers to detect hidden data. Additionally, creating a user-friendly mobile application and improving data embedding capacity without compromising image quality will make steganography more accessible and efficient for a wider range of users.</a:t>
            </a:r>
          </a:p>
        </p:txBody>
      </p:sp>
    </p:spTree>
    <p:extLst>
      <p:ext uri="{BB962C8B-B14F-4D97-AF65-F5344CB8AC3E}">
        <p14:creationId xmlns:p14="http://schemas.microsoft.com/office/powerpoint/2010/main" val="614882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305725" y="2225444"/>
            <a:ext cx="9298744" cy="1325563"/>
          </a:xfrm>
        </p:spPr>
        <p:txBody>
          <a:bodyPr>
            <a:normAutofit/>
          </a:bodyPr>
          <a:lstStyle/>
          <a:p>
            <a:pPr algn="ctr"/>
            <a:r>
              <a:rPr lang="en-US" sz="4800" b="1" dirty="0">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F0268AC5E70984D8FE60B7154176407" ma:contentTypeVersion="15" ma:contentTypeDescription="Create a new document." ma:contentTypeScope="" ma:versionID="104e359103f0f57b1cf9676756e5b944">
  <xsd:schema xmlns:xsd="http://www.w3.org/2001/XMLSchema" xmlns:xs="http://www.w3.org/2001/XMLSchema" xmlns:p="http://schemas.microsoft.com/office/2006/metadata/properties" xmlns:ns3="b30265f8-c5e2-4918-b4a1-b977299ca3e2" xmlns:ns4="fadb41d3-f9cb-40fb-903c-8cacaba95bb5" targetNamespace="http://schemas.microsoft.com/office/2006/metadata/properties" ma:root="true" ma:fieldsID="5615b8f8aa772998bad551f24a33de0e" ns3:_="" ns4:_="">
    <xsd:import namespace="b30265f8-c5e2-4918-b4a1-b977299ca3e2"/>
    <xsd:import namespace="fadb41d3-f9cb-40fb-903c-8cacaba95bb5"/>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0265f8-c5e2-4918-b4a1-b977299ca3e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adb41d3-f9cb-40fb-903c-8cacaba95bb5"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b30265f8-c5e2-4918-b4a1-b977299ca3e2"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9DD71778-17EE-4151-88AE-C8F4E8043B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0265f8-c5e2-4918-b4a1-b977299ca3e2"/>
    <ds:schemaRef ds:uri="fadb41d3-f9cb-40fb-903c-8cacaba95b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289AE2-D2AE-49D1-AFAC-3A79F6794255}">
  <ds:schemaRef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fadb41d3-f9cb-40fb-903c-8cacaba95bb5"/>
    <ds:schemaRef ds:uri="http://purl.org/dc/terms/"/>
    <ds:schemaRef ds:uri="b30265f8-c5e2-4918-b4a1-b977299ca3e2"/>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104</TotalTime>
  <Words>684</Words>
  <Application>Microsoft Office PowerPoint</Application>
  <PresentationFormat>Widescreen</PresentationFormat>
  <Paragraphs>50</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Calibri Light</vt:lpstr>
      <vt:lpstr>Franklin Gothic Book</vt:lpstr>
      <vt:lpstr>Franklin Gothic Demi</vt:lpstr>
      <vt:lpstr>Wingdings</vt:lpstr>
      <vt:lpstr>Wingdings 2</vt:lpstr>
      <vt:lpstr>DividendVTI</vt:lpstr>
      <vt:lpstr>SECURE DATA HIDING IN IMAGE USING STEGANOGRAPHY</vt:lpstr>
      <vt:lpstr>OUTLINE</vt:lpstr>
      <vt:lpstr>Problem Statement</vt:lpstr>
      <vt:lpstr>Technology  used</vt:lpstr>
      <vt:lpstr>Wow factors</vt:lpstr>
      <vt:lpstr>End users</vt:lpstr>
      <vt:lpstr>Results</vt:lpstr>
      <vt:lpstr>PowerPoint Presentation</vt:lpstr>
      <vt:lpstr>Conclusion</vt:lpstr>
      <vt:lpstr>GitHub Link</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Karishma Shaik</cp:lastModifiedBy>
  <cp:revision>30</cp:revision>
  <dcterms:created xsi:type="dcterms:W3CDTF">2021-05-26T16:50:10Z</dcterms:created>
  <dcterms:modified xsi:type="dcterms:W3CDTF">2025-02-24T11:51:55Z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0x0101007F0268AC5E70984D8FE60B7154176407</vt:lpwstr>
  </property>
</Properties>
</file>